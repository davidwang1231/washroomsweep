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开场。一句话说清楚:这是一个进门前的扫查器 —— 在你走进洗手间之前,告诉你这里是不是有摄像头正在把画面传出去。</a:t>
            </a:r>
          </a:p>
          <a:p/>
          <a:p>
            <a:r>
              <a:t>不要一上来讲技术,先让评委理解这是一个每个人都可能遇到的场景。</a:t>
            </a:r>
          </a:p>
          <a:p/>
          <a:p>
            <a:r>
              <a:t>队友可以在这里介绍团队。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背景。洗手间是最典型的场景:你无法预先检查、安装者有充足时间、受害者毫无察觉。</a:t>
            </a:r>
          </a:p>
          <a:p/>
          <a:p>
            <a:r>
              <a:t>Airbnb 2024年4月30日起全面禁止室内摄像头 —— 真实政策,可以直接引用。</a:t>
            </a:r>
          </a:p>
          <a:p/>
          <a:p>
            <a:r>
              <a:t>市面产品:几十块的 RF 探测器只会说''这里有信号'',但现代建筑里永远有信号,响个不停等于没响。专业设备有效但要几千块还需要培训。</a:t>
            </a:r>
          </a:p>
          <a:p/>
          <a:p>
            <a:r>
              <a:t>要加具体统计数字的话自己查来源,别凭印象写。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我们做了什么。一块几十块的 ESP32 被动监听空气,加一百行 Python 做判断。</a:t>
            </a:r>
          </a:p>
          <a:p/>
          <a:p>
            <a:r>
              <a:t>强调''被动'':不加入网络、不解密任何东西,只读 802.11 帧头。这既是技术特点也是合规特点。</a:t>
            </a:r>
          </a:p>
          <a:p/>
          <a:p>
            <a:r>
              <a:t>方向判断用 ToDS/FromDS 位,不需要知道路由器是谁 —— 真实的偷拍摄像头在你没见过的网络上。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1:被动感知。板子什么网络都没连,但已经看到房间里所有设备,每台的上行和下行分开统计。</a:t>
            </a:r>
          </a:p>
          <a:p/>
          <a:p>
            <a:r>
              <a:t>现场就指着滚动的列表讲。26 秒扫完 13 个信道发现 49 台设备 —— 这是真实数据。</a:t>
            </a:r>
          </a:p>
          <a:p/>
          <a:p>
            <a:r>
              <a:t>可以说明:列设备本身不难,市面 APP 都能做。我们的价值在于从这几十台里挑出哪一台在拍这个房间。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2:摄像头检测 —— 重头戏。摄像头只上传不下载。实测 478 KB/s 单向上行,比第二活跃的设备高 170 倍。</a:t>
            </a:r>
          </a:p>
          <a:p/>
          <a:p>
            <a:r>
              <a:t>第二个信号讲原理即可:摄像头用可变码率编码,画面变了数据量就变。关灯开灯做出一个已知节奏,看谁的流量跟着走 —— 跟得上的就是能看到这个房间的。</a:t>
            </a:r>
          </a:p>
          <a:p/>
          <a:p>
            <a:r>
              <a:t>必须主动说:为了绕开 ESP32 看不到 WiFi 6 的硬件限制,我们让板子自己建 802.11n 的网。真实场景摄像头在房间自己的网络上,这是真实约束。不主动说会被评委问倒。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 —— 队友讲。我们也做了蓝牙扫描,但它不参与摄像头判定。</a:t>
            </a:r>
          </a:p>
          <a:p/>
          <a:p>
            <a:r>
              <a:t>原因:蓝牙带宽比视频低两三个数量级,摄像头的视频数据在蓝牙上根本不存在。</a:t>
            </a:r>
          </a:p>
          <a:p/>
          <a:p>
            <a:r>
              <a:t>队友解决的真实问题:手机蓝牙地址每 15 分钟轮换,表里会堆满不存在的''幽灵设备''。</a:t>
            </a:r>
          </a:p>
          <a:p/>
          <a:p>
            <a:r>
              <a:t>这个''评估过并排除了''的回答是加分的 —— 显示做过取舍,不是漏了没做。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其他用途。同样的''谁在单向大量上传''这个信号,换个场景就有别的用途。</a:t>
            </a:r>
          </a:p>
          <a:p/>
          <a:p>
            <a:r>
              <a:t>讲得轻松一点,展示想象力。但说清楚这些是设想,不是已实现的功能。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总结。我们不声称机制新颖 —— 先行工作已经存在。贡献是低成本实现、进门扫查场景、用房间自己的灯做刺激,以及量化了方法什么时候失效。</a:t>
            </a:r>
          </a:p>
          <a:p/>
          <a:p>
            <a:r>
              <a:t>盲区一定要主动讲:本地存储摄像头和有线摄像头看不见;5GHz 和 WiFi 6 超出这个射频范围(实测只能恢复 0.03%);RSSI 不等于距离。</a:t>
            </a:r>
          </a:p>
          <a:p/>
          <a:p>
            <a:r>
              <a:t>结尾落在诚实上:能说清楚边界在哪,比声称''全做完了''更可信。</a:t>
            </a:r>
          </a:p>
          <a:p/>
          <a:p>
            <a:r>
              <a:t>问答准备在 PRESENTATION_NOTES.md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WIRELESS FOR HUMANITY · STUDENT DESIGN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000" b="1">
                <a:solidFill>
                  <a:srgbClr val="D5E0EB"/>
                </a:solidFill>
                <a:latin typeface="Helvetica Neue"/>
              </a:rPr>
              <a:t>WashroomSweep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200" b="0">
                <a:solidFill>
                  <a:srgbClr val="D5E0EB"/>
                </a:solidFill>
                <a:latin typeface="Helvetica Neue"/>
              </a:rPr>
              <a:t>Before you walk into a washroom, know whether a camera in there is streaming right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D7287"/>
                </a:solidFill>
                <a:latin typeface="Menlo"/>
              </a:rPr>
              <a:t>University of Waterloo  ·  2-person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Cheap cameras, and no good way to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23160"/>
            <a:ext cx="5144871" cy="210312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679192"/>
            <a:ext cx="463280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The problem is real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 streaming camera now fits inside a USB charger or a clothes hook and costs less than a meal. Airbnb banned indoor cameras outright in April 2024; South Korea runs municipal inspection teams for public washrooms.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2423160"/>
            <a:ext cx="5144871" cy="210312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9895" y="2679192"/>
            <a:ext cx="463280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Existing tools don't answer the question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RF detectors ($20–60) beep at any radio signal — always true indoors, so useless. Lens finders need the right angle. Professional gear works but costs $1k–10k and needs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5E0EB"/>
                </a:solidFill>
                <a:latin typeface="Helvetica Neue"/>
              </a:rPr>
              <a:t>They tell you a signal exists. We wanted to know: is something recording here, right now?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One ESP32, listening passively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344570" cy="201168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633472"/>
            <a:ext cx="283250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Sense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An ESP32 counts bytes per device every 200 ms and splits upload from download. It joins nothing and decrypts nothing — 802.11 headers 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3562" y="2377440"/>
            <a:ext cx="3344570" cy="201168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9594" y="2633472"/>
            <a:ext cx="283250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Judge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About 100 lines of Python on a laptop looks for the shape of a camera: heavy one-way upload that reacts when the room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4164" y="2377440"/>
            <a:ext cx="3344570" cy="201168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0196" y="2633472"/>
            <a:ext cx="2832506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Report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 live dashboard flags suspects, and states UNKNOWN whenever it cannot see properly. It never says “safe.”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006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5E0EB"/>
                </a:solidFill>
                <a:latin typeface="Helvetica Neue"/>
              </a:rPr>
              <a:t>Total radio cost: one dev board — no capture card, no SDR.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DEMO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It sees every device in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468880"/>
            <a:ext cx="3344570" cy="44450"/>
          </a:xfrm>
          <a:prstGeom prst="rect">
            <a:avLst/>
          </a:prstGeom>
          <a:solidFill>
            <a:srgbClr val="35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35D0D8"/>
                </a:solidFill>
                <a:latin typeface="Helvetica Neue"/>
              </a:rPr>
              <a:t>49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8A9FB4"/>
                </a:solidFill>
                <a:latin typeface="Helvetica Neue"/>
              </a:rPr>
              <a:t>DEVICES FOUND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D7287"/>
                </a:solidFill>
                <a:latin typeface="Helvetica Neue"/>
              </a:rPr>
              <a:t>In a 26-second sweep across all 13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3562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23562" y="2468880"/>
            <a:ext cx="3344570" cy="44450"/>
          </a:xfrm>
          <a:prstGeom prst="rect">
            <a:avLst/>
          </a:prstGeom>
          <a:solidFill>
            <a:srgbClr val="35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9594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35D0D8"/>
                </a:solidFill>
                <a:latin typeface="Helvetica Neue"/>
              </a:rPr>
              <a:t>200 ms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8A9FB4"/>
                </a:solidFill>
                <a:latin typeface="Helvetica Neue"/>
              </a:rPr>
              <a:t>UPDATE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D7287"/>
                </a:solidFill>
                <a:latin typeface="Helvetica Neue"/>
              </a:rPr>
              <a:t>Exact across 59 windows, zero dropouts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4164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24164" y="2468880"/>
            <a:ext cx="3344570" cy="44450"/>
          </a:xfrm>
          <a:prstGeom prst="rect">
            <a:avLst/>
          </a:prstGeom>
          <a:solidFill>
            <a:srgbClr val="35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196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35D0D8"/>
                </a:solidFill>
                <a:latin typeface="Helvetica Neue"/>
              </a:rPr>
              <a:t>0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8A9FB4"/>
                </a:solidFill>
                <a:latin typeface="Helvetica Neue"/>
              </a:rPr>
              <a:t>PACKETS DECRYPTED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D7287"/>
                </a:solidFill>
                <a:latin typeface="Helvetica Neue"/>
              </a:rPr>
              <a:t>Never joins a network; header fields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54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5E0EB"/>
                </a:solidFill>
                <a:latin typeface="Helvetica Neue"/>
              </a:rPr>
              <a:t>Listing devices is the easy part — phone apps do it. The value is picking out which one is watching this room.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DEMO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The camera gives itself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5144871" cy="237744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0800" cy="2377440"/>
          </a:xfrm>
          <a:prstGeom prst="rect">
            <a:avLst/>
          </a:prstGeom>
          <a:solidFill>
            <a:srgbClr val="FF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633472"/>
            <a:ext cx="4632807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FF5D5D"/>
                </a:solidFill>
                <a:latin typeface="Helvetica Neue"/>
              </a:rPr>
              <a:t>Signal 1 — it only uploads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Phones and laptops mostly pull data down. A streaming camera does the opposite, and it never stops.
478 KB/s up  ·  0 down
170× the next busiest device in the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2377440"/>
            <a:ext cx="5144871" cy="237744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9895" y="2633472"/>
            <a:ext cx="4632807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Signal 2 — it reacts to the room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Cameras use variable-bitrate encoding: change what the camera sees and you change how much it sends.
Flip the room's light in a known rhythm and see whose traffic follows. That separates a camera watching this room from someone uploading a video next door.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D7287"/>
                </a:solidFill>
                <a:latin typeface="Helvetica Neue"/>
              </a:rPr>
              <a:t>For this demo the board hosts its own 802.11n network, because its radio cannot demodulate WiFi 6. A real camera sits on the room's own network — that limit is on the summary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DEMO 3 · BLUETOOTH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400" b="1">
                <a:solidFill>
                  <a:srgbClr val="D5E0EB"/>
                </a:solidFill>
                <a:latin typeface="Helvetica Neue"/>
              </a:rPr>
              <a:t>We scan BLE too — and keep it out of the verdict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144871" cy="201168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724912"/>
            <a:ext cx="4632807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What it adds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 second board lists nearby Bluetooth devices — signal, maker, name, and whether the address is randomized. Useful context about what else is in the room.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2468880"/>
            <a:ext cx="5144871" cy="201168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9895" y="2724912"/>
            <a:ext cx="4632807" cy="1499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Why it can't find cameras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Bluetooth carries orders of magnitude less data than live video, so a streaming camera's payload never appears there. Seeing BLE only tells you a device has a Bluetooth radio.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D5E0EB"/>
                </a:solidFill>
                <a:latin typeface="Helvetica Neue"/>
              </a:rPr>
              <a:t>Hardest part: phones rotate their Bluetooth address every ~15 minutes, so a naive list fills up with devices that no longer exist. Entries expire fast so the list reflects what is here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WHERE ELSE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The same signal, other rooms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Confidential meetings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Sweep before a sensitive discussion for anything streaming out of the room.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3562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9594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Exams and classrooms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Sustained one-way upload from a seat looks different from ordinary browsing — without inspecting any content.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4164" y="2468880"/>
            <a:ext cx="3344570" cy="182880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0196" y="2724912"/>
            <a:ext cx="2832506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D5E0EB"/>
                </a:solidFill>
                <a:latin typeface="Helvetica Neue"/>
              </a:rPr>
              <a:t>Rentals and changing rooms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A routine check between guests, instead of waiting for someone to complain.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5E0EB"/>
                </a:solidFill>
                <a:latin typeface="Helvetica Neue"/>
              </a:rPr>
              <a:t>All of it reuses one primitive: who is sending far more than they receive, and does it react to this room?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545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D7287"/>
                </a:solidFill>
                <a:latin typeface="Menlo"/>
              </a:rPr>
              <a:t>Directions, not shipped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5D0D8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457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800" b="1">
                <a:solidFill>
                  <a:srgbClr val="D5E0EB"/>
                </a:solidFill>
                <a:latin typeface="Helvetica Neue"/>
              </a:rPr>
              <a:t>What works, and what doesn't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5144871" cy="210312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0800" cy="2103120"/>
          </a:xfrm>
          <a:prstGeom prst="rect">
            <a:avLst/>
          </a:prstGeom>
          <a:solidFill>
            <a:srgbClr val="4AD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633472"/>
            <a:ext cx="463280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4AD991"/>
                </a:solidFill>
                <a:latin typeface="Helvetica Neue"/>
              </a:rPr>
              <a:t>Works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Live over real RF, a streaming camera is separated from every other device in the room by three orders of magnitude — on upload asymmetry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2377440"/>
            <a:ext cx="5144871" cy="2103120"/>
          </a:xfrm>
          <a:prstGeom prst="roundRect">
            <a:avLst>
              <a:gd name="adj" fmla="val 5000"/>
            </a:avLst>
          </a:prstGeom>
          <a:solidFill>
            <a:srgbClr val="121D29"/>
          </a:solidFill>
          <a:ln w="12700">
            <a:solidFill>
              <a:srgbClr val="2434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3863" y="2377440"/>
            <a:ext cx="50800" cy="2103120"/>
          </a:xfrm>
          <a:prstGeom prst="rect">
            <a:avLst/>
          </a:prstGeom>
          <a:solidFill>
            <a:srgbClr val="FF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633472"/>
            <a:ext cx="4632807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>
                <a:solidFill>
                  <a:srgbClr val="FF5D5D"/>
                </a:solidFill>
                <a:latin typeface="Helvetica Neue"/>
              </a:rPr>
              <a:t>Blind spots we measured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8A9FB4"/>
                </a:solidFill>
                <a:latin typeface="Helvetica Neue"/>
              </a:rPr>
              <a:t>Cameras recording to an SD card or over cable emit nothing. 5 GHz and WiFi 6 are outside this radio — we recovered 0.03% of an 802.11ax link. RSSI is not distance; we don't localize.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D5E0EB"/>
                </a:solidFill>
                <a:latin typeface="Helvetica Neue"/>
              </a:rPr>
              <a:t>A sweeper that says UNKNOWN when it cannot see is more useful than one that says SAFE when it guessed.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D7287"/>
                </a:solidFill>
                <a:latin typeface="Helvetica Neue"/>
              </a:rPr>
              <a:t>Prior art exists (DeWiCam, SnoopDog, Lumos). Ours is the low-cost build, the entry-sweep scenario, and honest numbers for where it fails.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5D7287"/>
                </a:solidFill>
                <a:latin typeface="Menlo"/>
              </a:rPr>
              <a:t>github.com/DavidWang1231/WashroomSweep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