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开场。先讲场景不讲技术:一个进门前的扫查器 —— 在你走进洗手间、更衣室、民宿之前,告诉你这里是不是有摄像头正在把画面传出去。</a:t>
            </a:r>
          </a:p>
          <a:p/>
          <a:p>
            <a:r>
              <a:t>队友分工:这一页可由 Justin 开场介绍团队。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我们的初衷。洗手间是最典型的场景:进去的人无法预先检查、安装者有充足的隐蔽时间、受害者完全无法察觉。</a:t>
            </a:r>
          </a:p>
          <a:p/>
          <a:p>
            <a:r>
              <a:t>Airbnb 2024年4月30日起全面禁止室内摄像头 —— 真实政策可直接引用。</a:t>
            </a:r>
          </a:p>
          <a:p/>
          <a:p>
            <a:r>
              <a:t>注意:如果要加具体统计数字,自己查可靠来源,不要凭印象写。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市面上已有什么,以及缺点。</a:t>
            </a:r>
          </a:p>
          <a:p/>
          <a:p>
            <a:r>
              <a:t>重点讲 RF 探测器:几十块的产品只会说''这里有无线信号'',但现代建筑里永远有信号 —— 响个不停等于没响,没有任何信息量。</a:t>
            </a:r>
          </a:p>
          <a:p/>
          <a:p>
            <a:r>
              <a:t>手机探测 APP 大多用磁力计找金属,和摄像头没有因果关系,基本是安慰剂。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两个信号的分工一定要讲清楚,评委很可能问为什么需要第二个。</a:t>
            </a:r>
          </a:p>
          <a:p/>
          <a:p>
            <a:r>
              <a:t>答案:光靠不对称,隔壁房间的摄像头、楼下在上传视频的人,你都区分不了。相关性回答的是''它拍的是不是这个房间''。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板子负责看,笔记本负责判断。板子只数字节,完全不知道什么是摄像头。</a:t>
            </a:r>
          </a:p>
          <a:p/>
          <a:p>
            <a:r>
              <a:t>值得强调:方向判断用 802.11 帧里的 ToDS/FromDS 位,不需要知道路由器是谁 —— 真实的偷拍摄像头在你从没见过的网络上。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这是你昨天在笔记本上测的:同一部手机推流,开灯约 5 MB/s,关灯约 2 MB/s,差 2.4 倍。</a:t>
            </a:r>
          </a:p>
          <a:p/>
          <a:p>
            <a:r>
              <a:t>说明这是''网络侧''测量 —— 在网络内部测的,不是空口被动测的。诚实区分这两者。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整套系统的射频部分只有一块 ESP32 —— 几十块钱的开发板,没有专用抓包网卡,没有 SDR。</a:t>
            </a:r>
          </a:p>
          <a:p/>
          <a:p>
            <a:r>
              <a:t>成本和可复现性是评委关心的点,强调''一块板子 + 100 行 Python''。</a:t>
            </a:r>
          </a:p>
          <a:p/>
          <a:p>
            <a:r>
              <a:t>数据都是真机实测:26秒扫完13个信道发现49台设备;心跳59个窗口全部精确200ms,零复位。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这是重头戏。实测抓到:摄像头 478 KB/s 持续上行,下行为零,比第二活跃的设备高 170 倍。</a:t>
            </a:r>
          </a:p>
          <a:p/>
          <a:p>
            <a:r>
              <a:t>演示时指两个地方:uplink 那列的巨大差距,以及 up/down 比值是无穷大 —— 一台设备只发不收还发这么多,它在干什么?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这是队友做的实时控制台。可以点名讲这几个功能:一键发起30秒扫查并显示进度;板子可走USB也可走WiFi无线上报;串口掉了自动重连;设备按信号强度分档排序。</a:t>
            </a:r>
          </a:p>
          <a:p/>
          <a:p>
            <a:r>
              <a:t>最后一条特别值得讲 —— RSSI每秒抖几个dB,直接按原始值排序会让表格一直动、根本没法读。</a:t>
            </a:r>
          </a:p>
          <a:p/>
          <a:p>
            <a:r>
              <a:t>这一页请 Justin 自己讲。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BLE 不参与摄像头判定,因为蓝牙带宽远低于视频,摄像头的视频数据在蓝牙上根本不存在。</a:t>
            </a:r>
          </a:p>
          <a:p/>
          <a:p>
            <a:r>
              <a:t>但队友解决的三个问题是真实的工程判断,值得讲:地址轮换产生幽灵设备、表满了会挤掉真实设备、BLE和WiFi抢内存。</a:t>
            </a:r>
          </a:p>
          <a:p/>
          <a:p>
            <a:r>
              <a:t>这个''我们评估过并排除了''的回答是加分的,显示做过取舍而不是漏了没做。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这一页是加分项。我们的贡献里有一条就是''量化方法何时失效'',现在有数字了。</a:t>
            </a:r>
          </a:p>
          <a:p/>
          <a:p>
            <a:r>
              <a:t>主动讲 802.11ax:6.6 MB/s 下载只恢复了 0.03%,同时验证了接收链路健康(信道正确、beacon按100ms正常到达)—— 这种''证明自己没测错''的严谨性评委会看到。</a:t>
            </a:r>
          </a:p>
          <a:p/>
          <a:p>
            <a:r>
              <a:t>务必主动说 SoftAP 是演示装置不是产品形态,被问出来会很被动。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我们花了大量时间在一个看起来简单、实际很难的问题上:找一个合格的''替身摄像头''。</a:t>
            </a:r>
          </a:p>
          <a:p/>
          <a:p>
            <a:r>
              <a:t>三个原因都是实测出来的。而且我们确认了机制本身有效 —— MJPEG模式下完全遮住镜头,码率从700 KB/s掉到1 KB,300倍。</a:t>
            </a:r>
          </a:p>
          <a:p/>
          <a:p>
            <a:r>
              <a:t>还可以讲两个bug:混杂模式过滤器丢失导致垃圾帧冲垮设备表;浮点分箱误差把相关性从1.00拉到0.71。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同样的''谁在单向大量上传''这个信号,换个场景就有别的用途。</a:t>
            </a:r>
          </a:p>
          <a:p/>
          <a:p>
            <a:r>
              <a:t>这一页讲得轻松一点,展示想象力。但别吹太满 —— 说清楚这些是设想,不是已实现的功能。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我们没有声称机制新颖 —— 先行工作已经存在。我们的贡献是低成本独立实现、进门扫查场景、用房间自己的灯开关做刺激,以及量化了方法在什么情况下失效。</a:t>
            </a:r>
          </a:p>
          <a:p/>
          <a:p>
            <a:r>
              <a:t>结尾落在诚实上:能说清楚每一步的边界在哪,比声称''全做完了''更可信。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准备好的问答在 PRESENTATION_NOTES.md 里:为什么相关性没做出来、怎么知道真摄像头是802.11n、视频通话算不算摄像头、频段限制怎么解决、扫描要多久、大流量上传会不会误报。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46304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WIRELESS FOR HUMANITY · STUDENT DESIGN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400" b="1">
                <a:solidFill>
                  <a:srgbClr val="D5E0EB"/>
                </a:solidFill>
                <a:latin typeface="Helvetica Neue"/>
              </a:rPr>
              <a:t>WashroomSweep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D5E0EB"/>
                </a:solidFill>
                <a:latin typeface="Helvetica Neue"/>
              </a:rPr>
              <a:t>A low-cost sweeper that tells you, before you enter a closed space, whether a networked camera is streaming that space right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D7287"/>
                </a:solidFill>
                <a:latin typeface="Menlo"/>
              </a:rPr>
              <a:t>University of Waterloo  ·  2-person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WHERE THIS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D5E0EB"/>
                </a:solidFill>
                <a:latin typeface="Helvetica Neue"/>
              </a:rPr>
              <a:t>It began with a specific place:
the public washroom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We wanted a device you could point at a washroom before walking in — because that is the one place where you cannot inspect first, and where being recorded does the most harm.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17520"/>
            <a:ext cx="3411626" cy="16916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218688"/>
            <a:ext cx="3009290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You can't check it yourself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cubicle offers dozens of mounting points — vents, hooks, dispensers, smoke detectors. Nobody dismantles fixtures before using a toilet.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0034" y="3017520"/>
            <a:ext cx="3411626" cy="16916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1202" y="3218688"/>
            <a:ext cx="3009290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The installer has time; you don't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Whoever plants a camera can lock a cubicle and work unhurried. You get seconds, and no reason to suspect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2828" y="3017520"/>
            <a:ext cx="3411626" cy="16916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3996" y="3218688"/>
            <a:ext cx="3009290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They disappear into fixtures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streaming camera now fits inside a USB charger, a clothes hook, or a screw head, and costs less than a meal.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8A9FB4"/>
                </a:solidFill>
                <a:latin typeface="Helvetica Neue"/>
              </a:rPr>
              <a:t>Not confined to washrooms — Airbnb banned all indoor cameras in April 2024 — but washrooms set the constraint: the check must happen from outside, in under a minute, by someone with no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23560"/>
            <a:ext cx="10637215" cy="8686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9330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D7287"/>
                </a:solidFill>
                <a:latin typeface="Helvetica Neue"/>
              </a:rPr>
              <a:t>[ 插图位 ]  新闻截图,或伪装成挂钩/充电器的摄像头产品图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WHAT'S ALREADY ON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Existing tools answer the wrong question,
or cost more than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WHAT YOU CAN 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22860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22860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WHY IT FALLS SHORT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10637215" cy="12700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33472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Lens finders  ~$15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633472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Red LED ring; look for lens retroreflection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633472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Needs line of sight at the right angle; misses anything recessed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80944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RF detectors  $20–60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017520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Broadband power meter; beeps as RF energy 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017520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No discrimination — radio is always present, so it always beeps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64992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Phone apps 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01568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Magnetometer, or scanning for 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401568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Finds metal, not cameras. Screws and pipes trigger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49040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85616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Network scanners  free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85616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List devices on a network you joined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785616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Needs the password; camera may be on a network you never got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33088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9664"/>
            <a:ext cx="2651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Pro NLJD / thermal  $1k–10k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169664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Junction detection or thermal 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169664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Effective — and priced for security professionals, not for a washroom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17136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749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Every affordable option answers “is there a signal?” or “is there a lens?”  We wanted the question people actually have: is something recording here, right now?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Two signals, used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5218023" cy="21031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487168"/>
            <a:ext cx="4815687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01   Uplink / downlink asymmetry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streaming camera transmits far more than it receives; phones and laptops are the opposite. This is the coarse filter that narrows a room full of devices to one or two suspects.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286000"/>
            <a:ext cx="5218023" cy="21031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2487168"/>
            <a:ext cx="4815687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02   Bitrate response to a stimulus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Cameras use variable-bitrate encoding, so changing what the camera sees changes how much it sends. We toggle the room's own light switch and cross-correlate. This proves a device can see THIS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Everything is passive: no network association, no decryption. We read 802.11 header fields only — transmitter address, frame length, signal strength.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Sensor and judgement,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3411626" cy="15544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304288"/>
            <a:ext cx="300929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ESP32 — sensing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Promiscuous capture. Counts bytes per source MAC in 200 ms windows, splits uplink from downlink, emits CSV plus a heartbeat.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0034" y="2103120"/>
            <a:ext cx="3411626" cy="15544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1202" y="2304288"/>
            <a:ext cx="300929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Direction without context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Direction comes from the 802.11 ToDS/FromDS bits, which classify traffic for any network — we never need to know which router is which.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2828" y="2103120"/>
            <a:ext cx="3411626" cy="15544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3996" y="2304288"/>
            <a:ext cx="300929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Host — judgement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~100 lines of Python. Builds a per-device byte-rate series, correlates against the light stimulus, prints one verdict.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931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MEANING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06240"/>
            <a:ext cx="10637215" cy="12700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7939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CANDIDATE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device behaves like a camera streaming this 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90288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2686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NO NETWORKED CAMERA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626864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Nothing matched — not a claim the room is 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37760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7433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UNKNOWN — HIGH AMBIENT TRAFFIC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974336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Too noisy to trust the correlation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285232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UNKNOWN — INCOMPLETE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321808"/>
            <a:ext cx="6400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The capture itself failed; no conclusion possible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32704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We never output “safe.”  RF silence is not proof of absence.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VALIDATION · STEP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First we checked the assumption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D5E0EB"/>
                </a:solidFill>
                <a:latin typeface="Helvetica Neue"/>
              </a:rPr>
              <a:t>Before building anything, we measured whether scene brightness actually changes how much a camera transmits.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43200"/>
            <a:ext cx="3411626" cy="14630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D5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969768"/>
            <a:ext cx="300929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~5 MB/s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LIGHTS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0034" y="2743200"/>
            <a:ext cx="3411626" cy="14630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90034" y="274320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D5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202" y="2969768"/>
            <a:ext cx="300929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~2 MB/s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LIGHTS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2828" y="2743200"/>
            <a:ext cx="3411626" cy="14630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2828" y="274320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3996" y="2969768"/>
            <a:ext cx="300929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4AD991"/>
                </a:solidFill>
                <a:latin typeface="Helvetica Neue"/>
              </a:rPr>
              <a:t>2.4×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BITRATE SWING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Variable-bitrate assumption confirmed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8A9FB4"/>
                </a:solidFill>
                <a:latin typeface="Helvetica Neue"/>
              </a:rPr>
              <a:t>Measured network-side on a laptop, with a phone streaming video as the camera. This validates the mechanism; closing it over the air was a separate problem.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29200"/>
            <a:ext cx="10637215" cy="12344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8182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D7287"/>
                </a:solidFill>
                <a:latin typeface="Helvetica Neue"/>
              </a:rPr>
              <a:t>[ 插图位 ]  你昨天测试的照片或流量截图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THE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One ESP32 does all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508427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2508427" cy="3810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75408"/>
            <a:ext cx="210609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35D0D8"/>
                </a:solidFill>
                <a:latin typeface="Helvetica Neue"/>
              </a:rPr>
              <a:t>49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DEVICES FOUND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In a 26 s sweep across all 13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6835" y="2148840"/>
            <a:ext cx="2508427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6835" y="2148840"/>
            <a:ext cx="2508427" cy="3810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8003" y="2375408"/>
            <a:ext cx="210609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35D0D8"/>
                </a:solidFill>
                <a:latin typeface="Helvetica Neue"/>
              </a:rPr>
              <a:t>200 ms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REPORTING WINDOW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Exact across 59 windows, zero resets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0" y="2148840"/>
            <a:ext cx="2508427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6430" y="2148840"/>
            <a:ext cx="2508427" cy="3810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8" y="2375408"/>
            <a:ext cx="210609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35D0D8"/>
                </a:solidFill>
                <a:latin typeface="Helvetica Neue"/>
              </a:rPr>
              <a:t>3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BOARD VARIANTS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Compiles on ESP32, C3 and 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025" y="2148840"/>
            <a:ext cx="2508427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6025" y="2148840"/>
            <a:ext cx="2508427" cy="3810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7193" y="2375408"/>
            <a:ext cx="210609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35D0D8"/>
                </a:solidFill>
                <a:latin typeface="Helvetica Neue"/>
              </a:rPr>
              <a:t>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PACKETS DECRYPTED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Header fields only; never joins a 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5218023" cy="15544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270248"/>
            <a:ext cx="481568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Capabilities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Per-device byte counting · uplink/downlink split · channel lock or 13-channel scan · heartbeat so the host can tell a quiet room from a dead link · stimulus marker · CSV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069080"/>
            <a:ext cx="5218023" cy="15544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4270248"/>
            <a:ext cx="4815687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SoftAP mode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The board can host its own 802.11n network while still sniffing — the mode that made our live detection possible. Why that was necessary is on the limitations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LIVE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The camera separates itself
by three orders of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2331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UPLINK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UP /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3317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FB4"/>
                </a:solidFill>
                <a:latin typeface="Helvetica Neue"/>
              </a:rPr>
              <a:t>VERDICT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10637215" cy="12700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642616"/>
            <a:ext cx="10820095" cy="384048"/>
          </a:xfrm>
          <a:prstGeom prst="roundRect">
            <a:avLst>
              <a:gd name="adj" fmla="val 4000"/>
            </a:avLst>
          </a:prstGeom>
          <a:solidFill>
            <a:srgbClr val="2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9192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5D5D"/>
                </a:solidFill>
                <a:latin typeface="Menlo"/>
              </a:rPr>
              <a:t>42:BB:12:9C:98:E6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679192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5D5D"/>
                </a:solidFill>
                <a:latin typeface="Menlo"/>
              </a:rPr>
              <a:t>478 KB/s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679192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5D5D"/>
                </a:solidFill>
                <a:latin typeface="Helvetica Neue"/>
              </a:rPr>
              <a:t>∞  (no downlink)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679192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5D5D"/>
                </a:solidFill>
                <a:latin typeface="Helvetica Neue"/>
              </a:rPr>
              <a:t>CANDIDATE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26664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B6:5D:1D:A2:4B:41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06324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Menlo"/>
              </a:rPr>
              <a:t>2.8 KB/s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63240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Menlo"/>
              </a:rPr>
              <a:t>22.7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063240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10712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47288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30:76:F5:7D:E3:9C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447288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Menlo"/>
              </a:rPr>
              <a:t>0.1 KB/s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47288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447288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31336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5E0EB"/>
                </a:solidFill>
                <a:latin typeface="Menlo"/>
              </a:rPr>
              <a:t>CE:55:9A:10:62:08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831336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Menlo"/>
              </a:rPr>
              <a:t>0.1 KB/s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31336"/>
            <a:ext cx="2743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831336"/>
            <a:ext cx="2377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78808"/>
            <a:ext cx="10637215" cy="9525"/>
          </a:xfrm>
          <a:prstGeom prst="roundRect">
            <a:avLst>
              <a:gd name="adj" fmla="val 4000"/>
            </a:avLst>
          </a:prstGeom>
          <a:solidFill>
            <a:srgbClr val="273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" y="420624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420624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4432808"/>
            <a:ext cx="300929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17.9 MB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CAMERA UPLINK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Over 30 s · 0 bytes downlink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0034" y="420624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90034" y="420624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1202" y="4432808"/>
            <a:ext cx="300929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99.9%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OF ALL AIR TRAFFIC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Every other client combined: under 12 KB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2828" y="4206240"/>
            <a:ext cx="3411626" cy="13716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02828" y="420624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3996" y="4432808"/>
            <a:ext cx="300929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170×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ABOVE SECOND PLACE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Live, over real RF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715000"/>
            <a:ext cx="10637215" cy="8229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6188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D7287"/>
                </a:solidFill>
                <a:latin typeface="Helvetica Neue"/>
              </a:rPr>
              <a:t>[ 录屏位 ]  实时界面截图 —— 红色报警横幅弹出的那一刻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OPERATOR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One page to run the sweep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The boards and the analysis run behind a single live console — the operator never touches a terminal.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2508427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807208"/>
            <a:ext cx="2106091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One-button sweep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Starts the 30 s stimulus run, sends the marker, shows progress, renders the verdict and per-device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6835" y="2606040"/>
            <a:ext cx="2508427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8003" y="2807208"/>
            <a:ext cx="2106091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Tethered or wireless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Boards report over USB serial or over WiFi via UDP, so a board can sit in the room while the operator stays outside.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0" y="2606040"/>
            <a:ext cx="2508427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598" y="2807208"/>
            <a:ext cx="2106091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Survives interruptions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dropped serial port reconnects on its own; the page shows which feeds are live and which have gone quiet.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025" y="2606040"/>
            <a:ext cx="2508427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193" y="2807208"/>
            <a:ext cx="2106091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Readable under noise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RSSI wobbles constantly. Sorting on raw values made rows swap every second; bucketing by 3 dB keeps it legible.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26280"/>
            <a:ext cx="10637215" cy="5029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4526280"/>
            <a:ext cx="38100" cy="50292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A9FB4"/>
                </a:solidFill>
                <a:latin typeface="Helvetica Neue"/>
              </a:rPr>
              <a:t>[ Justin's work ]   Dashboard design and implementation. Both feeds — WiFi sniffer and BLE scanner — land in this one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12080"/>
            <a:ext cx="10637215" cy="10058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5040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D7287"/>
                </a:solidFill>
                <a:latin typeface="Helvetica Neue"/>
              </a:rPr>
              <a:t>[ 截图位 ]  Justin 的界面截图 —— 扫查进行中或出结果的那一刻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COMPLEMENTARY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Bluetooth presence — and why it stays
out of the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40280"/>
            <a:ext cx="5218023" cy="13716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441448"/>
            <a:ext cx="4815687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What it does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second ESP32 scans BLE advertisements and reports every nearby device — address, signal, manufacturer, name, privacy — over WiFi to the same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240280"/>
            <a:ext cx="5218023" cy="13716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2441448"/>
            <a:ext cx="4815687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Why it never feeds the verdict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BLE throughput is orders of magnitude below live video, so a streaming camera's payload never appears there. A BLE-capable camera reveals only that it HAS a BLE radio, typically used once at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WHAT MADE IT HARD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1480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31596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Phones rotate their address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BLE address changes every ~15 min, so a naive table fills with devices that no longer exist. Entries now expire after 20 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0034" y="411480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1202" y="431596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A full table hides real devices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With the table full, every new device evicts an old one. An eviction counter makes that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2828" y="411480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3996" y="431596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BLE and WiFi compete for memory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Both stacks together is tight. Free heap is reported each pass; reporting is skipped below a floor rather than crashing.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669280"/>
            <a:ext cx="10637215" cy="5029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5669280"/>
            <a:ext cx="38100" cy="50292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06440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A9FB4"/>
                </a:solidFill>
                <a:latin typeface="Helvetica Neue"/>
              </a:rPr>
              <a:t>[ Justin's work ]   BLE scanner, its memory and address-rotation handling, and the wireless reporting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WHAT WE MEASURED ABOUT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Where the method stops 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5218023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218023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329688"/>
            <a:ext cx="4815687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0.03%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OF AN 802.11AX LINK RECOVERED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A 6.6 MB/s download came back as ~2 KB/s. Receive path verified healthy at the same time — correct channel, beacons on schedule. A hardware ceiling, not a bug.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03120"/>
            <a:ext cx="5218023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6431" y="2103120"/>
            <a:ext cx="5218023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599" y="2329688"/>
            <a:ext cx="4815687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0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5 GHZ SIGNALS VISIBLE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The radio has no 5 GHz front end. Closing both gaps needs different silicon — a dual-band part such as the ESP32-C5 — not different software.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023360"/>
            <a:ext cx="3411626" cy="13258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224528"/>
            <a:ext cx="3009290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Local-storage cameras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Recording to an SD card emits nothing. Undetectable by any RF method, ours included.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0034" y="4023360"/>
            <a:ext cx="3411626" cy="13258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202" y="4224528"/>
            <a:ext cx="3009290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Wired cameras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Equally invisible.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4023360"/>
            <a:ext cx="3411626" cy="132588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3996" y="4224528"/>
            <a:ext cx="3009290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RSSI is not distance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We report signal strength but never localize. Walls and body blocking move RSSI as much as range does.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3212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D5E0EB"/>
                </a:solidFill>
                <a:latin typeface="Helvetica Neue"/>
              </a:rPr>
              <a:t>Our demo rig is not our deployment mode. We ran the board as its own 802.11n access point to force the camera onto a PHY this radio can read. A real hidden camera sits on the room's network and would never join ours.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DIFFICULTIES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D5E0EB"/>
                </a:solidFill>
                <a:latin typeface="Helvetica Neue"/>
              </a:rPr>
              <a:t>The hardest problem was finding
a valid test camera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The correlation closed in simulation and in the network-side pilot, but not over the air — because a phone is a poor stand-in for a camera, in three specific 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71800"/>
            <a:ext cx="3411626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172968"/>
            <a:ext cx="3009290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Constant bitrate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The app streamed a fixed ~550 KB/s regardless of what the lens saw, so scene changes never reached the bitrate.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0034" y="2971800"/>
            <a:ext cx="3411626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1202" y="3172968"/>
            <a:ext cx="3009290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Auto-gain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Darkening a scene doesn't simplify it — the sensor amplifies until it returns a noisy, high-detail image. Bitrate sometimes went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2828" y="2971800"/>
            <a:ext cx="3411626" cy="160020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3996" y="3172968"/>
            <a:ext cx="3009290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Dual-camera compositing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The app forced a front+rear pair. The front sensor kept imaging the room and held the floor at ~430 KB/s.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754880"/>
            <a:ext cx="10637215" cy="12344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4754880"/>
            <a:ext cx="10637215" cy="38100"/>
          </a:xfrm>
          <a:prstGeom prst="roundRect">
            <a:avLst>
              <a:gd name="adj" fmla="val 4000"/>
            </a:avLst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981448"/>
            <a:ext cx="10234879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4AD991"/>
                </a:solidFill>
                <a:latin typeface="Helvetica Neue"/>
              </a:rPr>
              <a:t>300×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SWING WHEN FULLY OCCLUDED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In MJPEG mode ~700 KB/s dropped to ~1 KB — the mechanism is sound; the stand-in was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892040"/>
            <a:ext cx="6583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What a valid stand-in needs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8A9FB4"/>
                </a:solidFill>
                <a:latin typeface="Helvetica Neue"/>
              </a:rPr>
              <a:t>Fixed exposure, a single sensor, and variable-bitrate encoding — which is exactly what a real IP camera is. That is the next thing we would buy.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BEYOND THE WASHROOM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The same signal answers other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94560"/>
            <a:ext cx="5218023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395728"/>
            <a:ext cx="481568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Confidential meetings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Before a sensitive discussion, sweep the room for any device streaming out of it. The stimulus is the room's own lighting.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194560"/>
            <a:ext cx="5218023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2395728"/>
            <a:ext cx="481568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Classrooms and exams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Sustained one-way uplink from a seat is a different signature from ordinary browsing — a proctoring aid that reads traffic shape, not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49039"/>
            <a:ext cx="5218023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950207"/>
            <a:ext cx="481568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Changing rooms and clinics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Any space where people undress or are examined, and where staff cannot inspect fixtures before every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3749039"/>
            <a:ext cx="5218023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3950207"/>
            <a:ext cx="4815687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Property handover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landlord or cleaning crew can sweep between guests, turning a reactive complaint process into a routine 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D5E0EB"/>
                </a:solidFill>
                <a:latin typeface="Helvetica Neue"/>
              </a:rPr>
              <a:t>All reuse the same primitive: who is sending far more than they receive, and does it respond to this room?  None require decrypting anything.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D7287"/>
                </a:solidFill>
                <a:latin typeface="Menlo"/>
              </a:rPr>
              <a:t>These are directions, not shipped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400" b="1">
                <a:solidFill>
                  <a:srgbClr val="D5E0EB"/>
                </a:solidFill>
                <a:latin typeface="Helvetica Neue"/>
              </a:rPr>
              <a:t>What we claim, and what we don't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5218023" cy="14630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304288"/>
            <a:ext cx="4815687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We do not claim novelty of the mechanism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Traffic-analysis camera detection is established prior art — DeWiCam, CSI:DeSpy, SnoopDog, Lumos, LocCams.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2103120"/>
            <a:ext cx="5218023" cy="146304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2304288"/>
            <a:ext cx="4815687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What we contribute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A low-cost ESP32 sensing front end with laptop-assisted analysis · the entry-sweep scenario · the room's own light switch as the stimulus · and measured numbers for where it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379476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02132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4AD991"/>
                </a:solidFill>
                <a:latin typeface="Helvetica Neue"/>
              </a:rPr>
              <a:t>Closed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ASYMMETRY SIGNAL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Demonstrated live over real 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0034" y="379476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90034" y="379476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35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1202" y="402132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35D0D8"/>
                </a:solidFill>
                <a:latin typeface="Helvetica Neue"/>
              </a:rPr>
              <a:t>Partial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STIMULUS CORRELATION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Simulation and pilot only — stand-in fidelity blocked the RF close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2828" y="3794760"/>
            <a:ext cx="3411626" cy="141732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2828" y="3794760"/>
            <a:ext cx="3411626" cy="38100"/>
          </a:xfrm>
          <a:prstGeom prst="roundRect">
            <a:avLst>
              <a:gd name="adj" fmla="val 4000"/>
            </a:avLst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3996" y="4021328"/>
            <a:ext cx="3009290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5D5D"/>
                </a:solidFill>
                <a:latin typeface="Helvetica Neue"/>
              </a:rPr>
              <a:t>Bounded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8A9FB4"/>
                </a:solidFill>
                <a:latin typeface="Helvetica Neue"/>
              </a:rPr>
              <a:t>COVERAGE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5D7287"/>
                </a:solidFill>
                <a:latin typeface="Helvetica Neue"/>
              </a:rPr>
              <a:t>2.4 GHz, 802.11b/g/n, streaming cameras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D5E0EB"/>
                </a:solidFill>
                <a:latin typeface="Helvetica Neue"/>
              </a:rPr>
              <a:t>We would rather state the boundary precisely than overclaim past it — a sweeper that says UNKNOWN when it cannot see is more useful than one that says SAFE when it guessed.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35D0D8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6372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600" b="1">
                <a:solidFill>
                  <a:srgbClr val="D5E0EB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383280"/>
            <a:ext cx="5218023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584448"/>
            <a:ext cx="4815687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Team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David (Jiacheng) Wang — detection pipeline: ESP32 sniffer, uplink/downlink split, host correlator
Justin Fang — BLE scanner and wireless reporting, live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6431" y="3383280"/>
            <a:ext cx="5218023" cy="1737360"/>
          </a:xfrm>
          <a:prstGeom prst="roundRect">
            <a:avLst>
              <a:gd name="adj" fmla="val 4000"/>
            </a:avLst>
          </a:prstGeom>
          <a:solidFill>
            <a:srgbClr val="131E2A"/>
          </a:solidFill>
          <a:ln w="12700">
            <a:solidFill>
              <a:srgbClr val="2738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3584448"/>
            <a:ext cx="4815687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D5E0EB"/>
                </a:solidFill>
                <a:latin typeface="Helvetica Neue"/>
              </a:rPr>
              <a:t>Code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FB4"/>
                </a:solidFill>
                <a:latin typeface="Helvetica Neue"/>
              </a:rPr>
              <a:t>github.com/DavidWang1231/WashroomSweep
github.com/justinfang37/washroom_security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